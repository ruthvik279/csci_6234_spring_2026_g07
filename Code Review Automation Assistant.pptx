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31"/>
  </p:notesMasterIdLst>
  <p:handoutMasterIdLst>
    <p:handoutMasterId r:id="rId32"/>
  </p:handoutMasterIdLst>
  <p:sldIdLst>
    <p:sldId id="1497" r:id="rId5"/>
    <p:sldId id="1514" r:id="rId6"/>
    <p:sldId id="1515" r:id="rId7"/>
    <p:sldId id="1524" r:id="rId8"/>
    <p:sldId id="1517" r:id="rId9"/>
    <p:sldId id="1516" r:id="rId10"/>
    <p:sldId id="1523" r:id="rId11"/>
    <p:sldId id="1519" r:id="rId12"/>
    <p:sldId id="1520" r:id="rId13"/>
    <p:sldId id="1521" r:id="rId14"/>
    <p:sldId id="1522" r:id="rId15"/>
    <p:sldId id="1526" r:id="rId16"/>
    <p:sldId id="1527" r:id="rId17"/>
    <p:sldId id="1518" r:id="rId18"/>
    <p:sldId id="1528" r:id="rId19"/>
    <p:sldId id="1529" r:id="rId20"/>
    <p:sldId id="1530" r:id="rId21"/>
    <p:sldId id="1531" r:id="rId22"/>
    <p:sldId id="1532" r:id="rId23"/>
    <p:sldId id="1534" r:id="rId24"/>
    <p:sldId id="1535" r:id="rId25"/>
    <p:sldId id="1536" r:id="rId26"/>
    <p:sldId id="1537" r:id="rId27"/>
    <p:sldId id="1538" r:id="rId28"/>
    <p:sldId id="1539" r:id="rId29"/>
    <p:sldId id="154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079" autoAdjust="0"/>
  </p:normalViewPr>
  <p:slideViewPr>
    <p:cSldViewPr snapToGrid="0">
      <p:cViewPr varScale="1">
        <p:scale>
          <a:sx n="66" d="100"/>
          <a:sy n="66" d="100"/>
        </p:scale>
        <p:origin x="1330" y="27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42919923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4/18/2026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4/18/2026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4/18/2026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4/18/2026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4/18/2026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4/18/2026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4/18/2026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4/18/2026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4/18/2026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4/18/2026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4/18/2026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4/18/2026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4/18/2026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4/18/2026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4/18/2026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4/18/2026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4/18/2026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4/18/2026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4/18/2026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4/18/2026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4/18/2026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4/18/2026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4/18/2026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4/18/2026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4/18/2026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4/18/2026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4/18/2026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4/18/2026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4/18/2026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4/18/2026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4/18/2026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4/18/2026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4/18/2026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801929"/>
            <a:ext cx="8686801" cy="2565902"/>
          </a:xfrm>
        </p:spPr>
        <p:txBody>
          <a:bodyPr>
            <a:normAutofit/>
          </a:bodyPr>
          <a:lstStyle/>
          <a:p>
            <a:r>
              <a:rPr lang="en-US" dirty="0"/>
              <a:t>Code Review Automation Assistant</a:t>
            </a: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726269"/>
            <a:ext cx="3024899" cy="547908"/>
          </a:xfrm>
        </p:spPr>
        <p:txBody>
          <a:bodyPr>
            <a:normAutofit/>
          </a:bodyPr>
          <a:lstStyle/>
          <a:p>
            <a:r>
              <a:rPr lang="en-US" sz="2000" b="1" dirty="0"/>
              <a:t>Group: 7</a:t>
            </a:r>
          </a:p>
        </p:txBody>
      </p:sp>
      <p:sp>
        <p:nvSpPr>
          <p:cNvPr id="4" name="Subtitle 2">
            <a:extLst>
              <a:ext uri="{FF2B5EF4-FFF2-40B4-BE49-F238E27FC236}">
                <a16:creationId xmlns:a16="http://schemas.microsoft.com/office/drawing/2014/main" id="{67DEDD17-2C0A-7A00-9CA1-8A766B61CA61}"/>
              </a:ext>
            </a:extLst>
          </p:cNvPr>
          <p:cNvSpPr txBox="1">
            <a:spLocks/>
          </p:cNvSpPr>
          <p:nvPr/>
        </p:nvSpPr>
        <p:spPr>
          <a:xfrm>
            <a:off x="6539948" y="5456756"/>
            <a:ext cx="5209190" cy="1197262"/>
          </a:xfrm>
          <a:prstGeom prst="rect">
            <a:avLst/>
          </a:prstGeom>
        </p:spPr>
        <p:txBody>
          <a:bodyPr vert="horz" lIns="91440" tIns="45720" rIns="91440" bIns="45720" rtlCol="0">
            <a:noAutofit/>
          </a:bodyPr>
          <a:lstStyle>
            <a:lvl1pPr marL="0" indent="0" algn="l" defTabSz="914400" rtl="0" eaLnBrk="1" latinLnBrk="0" hangingPunct="1">
              <a:lnSpc>
                <a:spcPct val="140000"/>
              </a:lnSpc>
              <a:spcBef>
                <a:spcPts val="1000"/>
              </a:spcBef>
              <a:buFont typeface="Arial" panose="020B0604020202020204" pitchFamily="34" charset="0"/>
              <a:buNone/>
              <a:defRPr sz="1600" kern="1200">
                <a:solidFill>
                  <a:schemeClr val="tx1"/>
                </a:solidFill>
                <a:latin typeface="+mn-lt"/>
                <a:ea typeface="+mn-ea"/>
                <a:cs typeface="+mn-cs"/>
              </a:defRPr>
            </a:lvl1pPr>
            <a:lvl2pPr marL="228600" indent="0" algn="l" defTabSz="914400" rtl="0" eaLnBrk="1" latinLnBrk="0" hangingPunct="1">
              <a:lnSpc>
                <a:spcPct val="14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40000"/>
              </a:lnSpc>
              <a:spcBef>
                <a:spcPts val="500"/>
              </a:spcBef>
              <a:buFont typeface="Arial" panose="020B0604020202020204" pitchFamily="34" charset="0"/>
              <a:buNone/>
              <a:defRPr sz="1200" kern="1200">
                <a:solidFill>
                  <a:schemeClr val="tx1"/>
                </a:solidFill>
                <a:latin typeface="+mn-lt"/>
                <a:ea typeface="+mn-ea"/>
                <a:cs typeface="+mn-cs"/>
              </a:defRPr>
            </a:lvl3pPr>
            <a:lvl4pPr marL="685800" indent="0" algn="l" defTabSz="914400" rtl="0" eaLnBrk="1" latinLnBrk="0" hangingPunct="1">
              <a:lnSpc>
                <a:spcPct val="140000"/>
              </a:lnSpc>
              <a:spcBef>
                <a:spcPts val="500"/>
              </a:spcBef>
              <a:buFont typeface="Arial" panose="020B0604020202020204" pitchFamily="34" charset="0"/>
              <a:buNone/>
              <a:defRPr sz="1100" kern="1200">
                <a:solidFill>
                  <a:schemeClr val="tx1"/>
                </a:solidFill>
                <a:latin typeface="+mn-lt"/>
                <a:ea typeface="+mn-ea"/>
                <a:cs typeface="+mn-cs"/>
              </a:defRPr>
            </a:lvl4pPr>
            <a:lvl5pPr marL="914400" indent="0" algn="l" defTabSz="914400" rtl="0" eaLnBrk="1" latinLnBrk="0" hangingPunct="1">
              <a:lnSpc>
                <a:spcPct val="140000"/>
              </a:lnSpc>
              <a:spcBef>
                <a:spcPts val="500"/>
              </a:spcBef>
              <a:buFont typeface="Arial" panose="020B0604020202020204" pitchFamily="34" charset="0"/>
              <a:buNone/>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2000" b="1" dirty="0"/>
              <a:t>Group Members: </a:t>
            </a:r>
          </a:p>
          <a:p>
            <a:pPr algn="just">
              <a:lnSpc>
                <a:spcPct val="100000"/>
              </a:lnSpc>
            </a:pPr>
            <a:r>
              <a:rPr lang="en-US" sz="2000" dirty="0"/>
              <a:t>Ruthvik Tarang Goggi &amp; Nikhil Arethiya</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859535" y="907302"/>
            <a:ext cx="10302108" cy="1386965"/>
          </a:xfrm>
        </p:spPr>
        <p:txBody>
          <a:bodyPr/>
          <a:lstStyle/>
          <a:p>
            <a:r>
              <a:rPr lang="en-US" b="1" dirty="0"/>
              <a:t>Project Description</a:t>
            </a:r>
            <a:endParaRPr lang="en-US" dirty="0"/>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859536" y="1838739"/>
            <a:ext cx="10421377" cy="4111958"/>
          </a:xfrm>
        </p:spPr>
        <p:txBody>
          <a:bodyPr>
            <a:normAutofit/>
          </a:bodyPr>
          <a:lstStyle/>
          <a:p>
            <a:pPr marL="0" indent="0">
              <a:buNone/>
            </a:pPr>
            <a:r>
              <a:rPr lang="en-US" dirty="0"/>
              <a:t>The Code Review Automation Assistant is an intelligent software system designed to streamline and enhance the code review process for development teams using GitHub repositories. This system automatically analyzes pull requests submitted by developers, applying customizable quality rules and coding standards to identify potential issues, security vulnerabilities, code smells, and style violations. When a developer submits a pull request, the system receives webhook notifications from GitHub, performs comprehensive static code analysis, and generates detailed review comments directly on the pull request with severity levels and improvement suggestions. Repository administrators can configure review rules, connect multiple repositories, and monitor overall code quality through an interactive dashboard displaying metrics, trends, and quality scores. The system generates comprehensive reports containing detailed findings, code complexity analysis, and actionable recommendations, enabling teams to maintain high code quality standards, reduce manual review time, and ensure consistent adherence to project guidelines. </a:t>
            </a:r>
          </a:p>
        </p:txBody>
      </p:sp>
    </p:spTree>
    <p:extLst>
      <p:ext uri="{BB962C8B-B14F-4D97-AF65-F5344CB8AC3E}">
        <p14:creationId xmlns:p14="http://schemas.microsoft.com/office/powerpoint/2010/main" val="2002021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4F3BC-16B2-FBF5-F6C2-C4A324326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DAB19-41D2-EBD8-D08A-9D76781017D0}"/>
              </a:ext>
            </a:extLst>
          </p:cNvPr>
          <p:cNvSpPr>
            <a:spLocks noGrp="1"/>
          </p:cNvSpPr>
          <p:nvPr>
            <p:ph type="title"/>
          </p:nvPr>
        </p:nvSpPr>
        <p:spPr>
          <a:xfrm>
            <a:off x="859535" y="907302"/>
            <a:ext cx="10302108" cy="1386965"/>
          </a:xfrm>
        </p:spPr>
        <p:txBody>
          <a:bodyPr/>
          <a:lstStyle/>
          <a:p>
            <a:r>
              <a:rPr lang="en-US" b="1" dirty="0"/>
              <a:t>USE-CASE </a:t>
            </a:r>
            <a:r>
              <a:rPr lang="en-US" b="1" dirty="0" err="1"/>
              <a:t>DIagram</a:t>
            </a:r>
            <a:endParaRPr lang="en-US" dirty="0"/>
          </a:p>
        </p:txBody>
      </p:sp>
      <p:pic>
        <p:nvPicPr>
          <p:cNvPr id="5" name="Picture 4">
            <a:extLst>
              <a:ext uri="{FF2B5EF4-FFF2-40B4-BE49-F238E27FC236}">
                <a16:creationId xmlns:a16="http://schemas.microsoft.com/office/drawing/2014/main" id="{5509734A-A3D3-CBF1-D0F6-26EB8BC0A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198" y="1354320"/>
            <a:ext cx="8270072" cy="4986843"/>
          </a:xfrm>
          <a:prstGeom prst="rect">
            <a:avLst/>
          </a:prstGeom>
        </p:spPr>
      </p:pic>
    </p:spTree>
    <p:extLst>
      <p:ext uri="{BB962C8B-B14F-4D97-AF65-F5344CB8AC3E}">
        <p14:creationId xmlns:p14="http://schemas.microsoft.com/office/powerpoint/2010/main" val="1614509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57E5-44F9-A24F-97EF-B3FA7EF2B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477BD-E947-BE84-7E1F-43577E580C2B}"/>
              </a:ext>
            </a:extLst>
          </p:cNvPr>
          <p:cNvSpPr>
            <a:spLocks noGrp="1"/>
          </p:cNvSpPr>
          <p:nvPr>
            <p:ph type="title"/>
          </p:nvPr>
        </p:nvSpPr>
        <p:spPr>
          <a:xfrm>
            <a:off x="451413" y="409591"/>
            <a:ext cx="10302108" cy="632131"/>
          </a:xfrm>
        </p:spPr>
        <p:txBody>
          <a:bodyPr/>
          <a:lstStyle/>
          <a:p>
            <a:r>
              <a:rPr lang="en-US" b="1" dirty="0"/>
              <a:t>Class Diagram</a:t>
            </a:r>
            <a:endParaRPr lang="en-US" dirty="0"/>
          </a:p>
        </p:txBody>
      </p:sp>
      <p:pic>
        <p:nvPicPr>
          <p:cNvPr id="4" name="Picture 3">
            <a:extLst>
              <a:ext uri="{FF2B5EF4-FFF2-40B4-BE49-F238E27FC236}">
                <a16:creationId xmlns:a16="http://schemas.microsoft.com/office/drawing/2014/main" id="{A3C95356-7AA1-C34A-F811-27EF5B615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40442"/>
            <a:ext cx="12192000" cy="5917557"/>
          </a:xfrm>
          <a:prstGeom prst="rect">
            <a:avLst/>
          </a:prstGeom>
        </p:spPr>
      </p:pic>
    </p:spTree>
    <p:extLst>
      <p:ext uri="{BB962C8B-B14F-4D97-AF65-F5344CB8AC3E}">
        <p14:creationId xmlns:p14="http://schemas.microsoft.com/office/powerpoint/2010/main" val="482226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5105-0C83-83FD-F061-AFC6738EEED3}"/>
              </a:ext>
            </a:extLst>
          </p:cNvPr>
          <p:cNvSpPr>
            <a:spLocks noGrp="1"/>
          </p:cNvSpPr>
          <p:nvPr>
            <p:ph type="ctrTitle"/>
          </p:nvPr>
        </p:nvSpPr>
        <p:spPr/>
        <p:txBody>
          <a:bodyPr/>
          <a:lstStyle/>
          <a:p>
            <a:r>
              <a:rPr lang="en-US" dirty="0"/>
              <a:t>Sequence </a:t>
            </a:r>
            <a:br>
              <a:rPr lang="en-US" dirty="0"/>
            </a:br>
            <a:r>
              <a:rPr lang="en-US" dirty="0"/>
              <a:t>Diagram</a:t>
            </a:r>
          </a:p>
        </p:txBody>
      </p:sp>
    </p:spTree>
    <p:extLst>
      <p:ext uri="{BB962C8B-B14F-4D97-AF65-F5344CB8AC3E}">
        <p14:creationId xmlns:p14="http://schemas.microsoft.com/office/powerpoint/2010/main" val="2508565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B57B-8FE5-1E78-22B5-2542E0AAA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FC7B8-B93C-5A1D-4F49-98F04402E014}"/>
              </a:ext>
            </a:extLst>
          </p:cNvPr>
          <p:cNvSpPr>
            <a:spLocks noGrp="1"/>
          </p:cNvSpPr>
          <p:nvPr>
            <p:ph type="title"/>
          </p:nvPr>
        </p:nvSpPr>
        <p:spPr>
          <a:xfrm>
            <a:off x="859535" y="907303"/>
            <a:ext cx="10302108" cy="690004"/>
          </a:xfrm>
        </p:spPr>
        <p:txBody>
          <a:bodyPr/>
          <a:lstStyle/>
          <a:p>
            <a:r>
              <a:rPr lang="en-US" b="1" dirty="0"/>
              <a:t>View dashboard</a:t>
            </a:r>
            <a:endParaRPr lang="en-US" dirty="0"/>
          </a:p>
        </p:txBody>
      </p:sp>
      <p:pic>
        <p:nvPicPr>
          <p:cNvPr id="5" name="Picture 4">
            <a:extLst>
              <a:ext uri="{FF2B5EF4-FFF2-40B4-BE49-F238E27FC236}">
                <a16:creationId xmlns:a16="http://schemas.microsoft.com/office/drawing/2014/main" id="{699D7820-8FF2-0F43-260F-210A91421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817" y="1494339"/>
            <a:ext cx="11121463" cy="4610100"/>
          </a:xfrm>
          <a:prstGeom prst="rect">
            <a:avLst/>
          </a:prstGeom>
        </p:spPr>
      </p:pic>
    </p:spTree>
    <p:extLst>
      <p:ext uri="{BB962C8B-B14F-4D97-AF65-F5344CB8AC3E}">
        <p14:creationId xmlns:p14="http://schemas.microsoft.com/office/powerpoint/2010/main" val="1153911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F9A61-156D-E211-DF9A-6E7A2B158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65D99-95E3-CD8B-CECB-613039D1B438}"/>
              </a:ext>
            </a:extLst>
          </p:cNvPr>
          <p:cNvSpPr>
            <a:spLocks noGrp="1"/>
          </p:cNvSpPr>
          <p:nvPr>
            <p:ph type="title"/>
          </p:nvPr>
        </p:nvSpPr>
        <p:spPr>
          <a:xfrm>
            <a:off x="859535" y="907303"/>
            <a:ext cx="10302108" cy="690004"/>
          </a:xfrm>
        </p:spPr>
        <p:txBody>
          <a:bodyPr/>
          <a:lstStyle/>
          <a:p>
            <a:r>
              <a:rPr lang="en-US" b="1" dirty="0"/>
              <a:t>View Review comments</a:t>
            </a:r>
            <a:endParaRPr lang="en-US" dirty="0"/>
          </a:p>
        </p:txBody>
      </p:sp>
      <p:pic>
        <p:nvPicPr>
          <p:cNvPr id="4" name="Picture 3">
            <a:extLst>
              <a:ext uri="{FF2B5EF4-FFF2-40B4-BE49-F238E27FC236}">
                <a16:creationId xmlns:a16="http://schemas.microsoft.com/office/drawing/2014/main" id="{3F3AFA45-6E63-FAEE-D4BC-23018C98F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430" y="1597308"/>
            <a:ext cx="10841379" cy="4722470"/>
          </a:xfrm>
          <a:prstGeom prst="rect">
            <a:avLst/>
          </a:prstGeom>
        </p:spPr>
      </p:pic>
    </p:spTree>
    <p:extLst>
      <p:ext uri="{BB962C8B-B14F-4D97-AF65-F5344CB8AC3E}">
        <p14:creationId xmlns:p14="http://schemas.microsoft.com/office/powerpoint/2010/main" val="1020326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FE145-71BC-3248-4954-3C1F45A10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6168-86C4-60B5-B94F-76999F94D53B}"/>
              </a:ext>
            </a:extLst>
          </p:cNvPr>
          <p:cNvSpPr>
            <a:spLocks noGrp="1"/>
          </p:cNvSpPr>
          <p:nvPr>
            <p:ph type="title"/>
          </p:nvPr>
        </p:nvSpPr>
        <p:spPr>
          <a:xfrm>
            <a:off x="859535" y="907302"/>
            <a:ext cx="10302108" cy="1386965"/>
          </a:xfrm>
        </p:spPr>
        <p:txBody>
          <a:bodyPr/>
          <a:lstStyle/>
          <a:p>
            <a:r>
              <a:rPr lang="en-US" b="1" dirty="0"/>
              <a:t>Submit pull request</a:t>
            </a:r>
            <a:endParaRPr lang="en-US" dirty="0"/>
          </a:p>
        </p:txBody>
      </p:sp>
      <p:pic>
        <p:nvPicPr>
          <p:cNvPr id="4" name="Picture 3">
            <a:extLst>
              <a:ext uri="{FF2B5EF4-FFF2-40B4-BE49-F238E27FC236}">
                <a16:creationId xmlns:a16="http://schemas.microsoft.com/office/drawing/2014/main" id="{C428F24A-5AC8-F552-6A40-B74D238B77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85" y="1616823"/>
            <a:ext cx="11296891" cy="4737678"/>
          </a:xfrm>
          <a:prstGeom prst="rect">
            <a:avLst/>
          </a:prstGeom>
        </p:spPr>
      </p:pic>
    </p:spTree>
    <p:extLst>
      <p:ext uri="{BB962C8B-B14F-4D97-AF65-F5344CB8AC3E}">
        <p14:creationId xmlns:p14="http://schemas.microsoft.com/office/powerpoint/2010/main" val="3632134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44341-FF71-30A9-1783-F07BD2D0C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E44E6-9A62-01C2-96D7-2EA5840E97F0}"/>
              </a:ext>
            </a:extLst>
          </p:cNvPr>
          <p:cNvSpPr>
            <a:spLocks noGrp="1"/>
          </p:cNvSpPr>
          <p:nvPr>
            <p:ph type="title"/>
          </p:nvPr>
        </p:nvSpPr>
        <p:spPr>
          <a:xfrm>
            <a:off x="859535" y="907302"/>
            <a:ext cx="10302108" cy="1386965"/>
          </a:xfrm>
        </p:spPr>
        <p:txBody>
          <a:bodyPr/>
          <a:lstStyle/>
          <a:p>
            <a:r>
              <a:rPr lang="en-US" b="1" dirty="0"/>
              <a:t>Connect repository</a:t>
            </a:r>
            <a:endParaRPr lang="en-US" dirty="0"/>
          </a:p>
        </p:txBody>
      </p:sp>
      <p:pic>
        <p:nvPicPr>
          <p:cNvPr id="4" name="Picture 3">
            <a:extLst>
              <a:ext uri="{FF2B5EF4-FFF2-40B4-BE49-F238E27FC236}">
                <a16:creationId xmlns:a16="http://schemas.microsoft.com/office/drawing/2014/main" id="{C203414F-5F62-6AF0-55BF-E5737153AB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719" y="1452547"/>
            <a:ext cx="11142562" cy="4498151"/>
          </a:xfrm>
          <a:prstGeom prst="rect">
            <a:avLst/>
          </a:prstGeom>
        </p:spPr>
      </p:pic>
    </p:spTree>
    <p:extLst>
      <p:ext uri="{BB962C8B-B14F-4D97-AF65-F5344CB8AC3E}">
        <p14:creationId xmlns:p14="http://schemas.microsoft.com/office/powerpoint/2010/main" val="1486038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31B51-FC7D-9E8F-D476-6A512F7E5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22D87-4B00-FC18-8F92-4702685118ED}"/>
              </a:ext>
            </a:extLst>
          </p:cNvPr>
          <p:cNvSpPr>
            <a:spLocks noGrp="1"/>
          </p:cNvSpPr>
          <p:nvPr>
            <p:ph type="title"/>
          </p:nvPr>
        </p:nvSpPr>
        <p:spPr>
          <a:xfrm>
            <a:off x="859535" y="907303"/>
            <a:ext cx="10302108" cy="643706"/>
          </a:xfrm>
        </p:spPr>
        <p:txBody>
          <a:bodyPr/>
          <a:lstStyle/>
          <a:p>
            <a:r>
              <a:rPr lang="en-US" b="1" dirty="0"/>
              <a:t>Generate report</a:t>
            </a:r>
            <a:endParaRPr lang="en-US" dirty="0"/>
          </a:p>
        </p:txBody>
      </p:sp>
      <p:pic>
        <p:nvPicPr>
          <p:cNvPr id="4" name="Picture 3">
            <a:extLst>
              <a:ext uri="{FF2B5EF4-FFF2-40B4-BE49-F238E27FC236}">
                <a16:creationId xmlns:a16="http://schemas.microsoft.com/office/drawing/2014/main" id="{45B09027-DADA-7669-B50E-00D9AAB90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733" y="1388962"/>
            <a:ext cx="11028215" cy="4849792"/>
          </a:xfrm>
          <a:prstGeom prst="rect">
            <a:avLst/>
          </a:prstGeom>
        </p:spPr>
      </p:pic>
    </p:spTree>
    <p:extLst>
      <p:ext uri="{BB962C8B-B14F-4D97-AF65-F5344CB8AC3E}">
        <p14:creationId xmlns:p14="http://schemas.microsoft.com/office/powerpoint/2010/main" val="3913391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4E71-5AFC-C533-A734-295B5FD6D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6BE77-BE45-7C94-BC66-891754FF0C49}"/>
              </a:ext>
            </a:extLst>
          </p:cNvPr>
          <p:cNvSpPr>
            <a:spLocks noGrp="1"/>
          </p:cNvSpPr>
          <p:nvPr>
            <p:ph type="title"/>
          </p:nvPr>
        </p:nvSpPr>
        <p:spPr>
          <a:xfrm>
            <a:off x="859535" y="907303"/>
            <a:ext cx="10302108" cy="608982"/>
          </a:xfrm>
        </p:spPr>
        <p:txBody>
          <a:bodyPr/>
          <a:lstStyle/>
          <a:p>
            <a:r>
              <a:rPr lang="en-US" b="1" dirty="0"/>
              <a:t>Configure rules</a:t>
            </a:r>
            <a:endParaRPr lang="en-US" dirty="0"/>
          </a:p>
        </p:txBody>
      </p:sp>
      <p:pic>
        <p:nvPicPr>
          <p:cNvPr id="4" name="Picture 3">
            <a:extLst>
              <a:ext uri="{FF2B5EF4-FFF2-40B4-BE49-F238E27FC236}">
                <a16:creationId xmlns:a16="http://schemas.microsoft.com/office/drawing/2014/main" id="{D5A4AC40-B96C-AAC8-5975-B46E09F9D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990" y="1516285"/>
            <a:ext cx="10658475" cy="4610100"/>
          </a:xfrm>
          <a:prstGeom prst="rect">
            <a:avLst/>
          </a:prstGeom>
        </p:spPr>
      </p:pic>
    </p:spTree>
    <p:extLst>
      <p:ext uri="{BB962C8B-B14F-4D97-AF65-F5344CB8AC3E}">
        <p14:creationId xmlns:p14="http://schemas.microsoft.com/office/powerpoint/2010/main" val="303044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5105-0C83-83FD-F061-AFC6738EEED3}"/>
              </a:ext>
            </a:extLst>
          </p:cNvPr>
          <p:cNvSpPr>
            <a:spLocks noGrp="1"/>
          </p:cNvSpPr>
          <p:nvPr>
            <p:ph type="ctrTitle"/>
          </p:nvPr>
        </p:nvSpPr>
        <p:spPr/>
        <p:txBody>
          <a:bodyPr/>
          <a:lstStyle/>
          <a:p>
            <a:r>
              <a:rPr lang="en-US" dirty="0"/>
              <a:t>Robustness Diagram</a:t>
            </a:r>
          </a:p>
        </p:txBody>
      </p:sp>
    </p:spTree>
    <p:extLst>
      <p:ext uri="{BB962C8B-B14F-4D97-AF65-F5344CB8AC3E}">
        <p14:creationId xmlns:p14="http://schemas.microsoft.com/office/powerpoint/2010/main" val="1992630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B57B-8FE5-1E78-22B5-2542E0AAA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FC7B8-B93C-5A1D-4F49-98F04402E014}"/>
              </a:ext>
            </a:extLst>
          </p:cNvPr>
          <p:cNvSpPr>
            <a:spLocks noGrp="1"/>
          </p:cNvSpPr>
          <p:nvPr>
            <p:ph type="title"/>
          </p:nvPr>
        </p:nvSpPr>
        <p:spPr>
          <a:xfrm>
            <a:off x="859535" y="907302"/>
            <a:ext cx="10302108" cy="1386965"/>
          </a:xfrm>
        </p:spPr>
        <p:txBody>
          <a:bodyPr/>
          <a:lstStyle/>
          <a:p>
            <a:r>
              <a:rPr lang="en-US" b="1" dirty="0"/>
              <a:t>View dashboard</a:t>
            </a:r>
            <a:endParaRPr lang="en-US" dirty="0"/>
          </a:p>
        </p:txBody>
      </p:sp>
      <p:pic>
        <p:nvPicPr>
          <p:cNvPr id="4" name="Picture 3">
            <a:extLst>
              <a:ext uri="{FF2B5EF4-FFF2-40B4-BE49-F238E27FC236}">
                <a16:creationId xmlns:a16="http://schemas.microsoft.com/office/drawing/2014/main" id="{1FF111E9-EFC1-6599-4E83-A118AFA7D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170" y="2946124"/>
            <a:ext cx="10107473" cy="965752"/>
          </a:xfrm>
          <a:prstGeom prst="rect">
            <a:avLst/>
          </a:prstGeom>
        </p:spPr>
      </p:pic>
    </p:spTree>
    <p:extLst>
      <p:ext uri="{BB962C8B-B14F-4D97-AF65-F5344CB8AC3E}">
        <p14:creationId xmlns:p14="http://schemas.microsoft.com/office/powerpoint/2010/main" val="1098437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728C-DA4E-A90B-007A-72F54B532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074AD-1F2B-31C2-D494-33AEA07D557F}"/>
              </a:ext>
            </a:extLst>
          </p:cNvPr>
          <p:cNvSpPr>
            <a:spLocks noGrp="1"/>
          </p:cNvSpPr>
          <p:nvPr>
            <p:ph type="title"/>
          </p:nvPr>
        </p:nvSpPr>
        <p:spPr>
          <a:xfrm>
            <a:off x="859535" y="907302"/>
            <a:ext cx="10302108" cy="1386965"/>
          </a:xfrm>
        </p:spPr>
        <p:txBody>
          <a:bodyPr/>
          <a:lstStyle/>
          <a:p>
            <a:r>
              <a:rPr lang="en-US" b="1" dirty="0"/>
              <a:t>View Review comments</a:t>
            </a:r>
            <a:endParaRPr lang="en-US" dirty="0"/>
          </a:p>
        </p:txBody>
      </p:sp>
      <p:pic>
        <p:nvPicPr>
          <p:cNvPr id="5" name="Picture 4">
            <a:extLst>
              <a:ext uri="{FF2B5EF4-FFF2-40B4-BE49-F238E27FC236}">
                <a16:creationId xmlns:a16="http://schemas.microsoft.com/office/drawing/2014/main" id="{FCB2135D-4C3B-C83E-0FB5-0D1BF3896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347" y="2988055"/>
            <a:ext cx="10655306" cy="881890"/>
          </a:xfrm>
          <a:prstGeom prst="rect">
            <a:avLst/>
          </a:prstGeom>
        </p:spPr>
      </p:pic>
    </p:spTree>
    <p:extLst>
      <p:ext uri="{BB962C8B-B14F-4D97-AF65-F5344CB8AC3E}">
        <p14:creationId xmlns:p14="http://schemas.microsoft.com/office/powerpoint/2010/main" val="2147159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FE145-71BC-3248-4954-3C1F45A10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6168-86C4-60B5-B94F-76999F94D53B}"/>
              </a:ext>
            </a:extLst>
          </p:cNvPr>
          <p:cNvSpPr>
            <a:spLocks noGrp="1"/>
          </p:cNvSpPr>
          <p:nvPr>
            <p:ph type="title"/>
          </p:nvPr>
        </p:nvSpPr>
        <p:spPr>
          <a:xfrm>
            <a:off x="859535" y="907302"/>
            <a:ext cx="10302108" cy="1386965"/>
          </a:xfrm>
        </p:spPr>
        <p:txBody>
          <a:bodyPr/>
          <a:lstStyle/>
          <a:p>
            <a:r>
              <a:rPr lang="en-US" b="1" dirty="0"/>
              <a:t>Submit pull request</a:t>
            </a:r>
            <a:endParaRPr lang="en-US" dirty="0"/>
          </a:p>
        </p:txBody>
      </p:sp>
      <p:pic>
        <p:nvPicPr>
          <p:cNvPr id="5" name="Picture 4">
            <a:extLst>
              <a:ext uri="{FF2B5EF4-FFF2-40B4-BE49-F238E27FC236}">
                <a16:creationId xmlns:a16="http://schemas.microsoft.com/office/drawing/2014/main" id="{616327C5-9D8C-B6C2-02E4-FE9A218CAE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05" y="2973146"/>
            <a:ext cx="11069208" cy="911708"/>
          </a:xfrm>
          <a:prstGeom prst="rect">
            <a:avLst/>
          </a:prstGeom>
        </p:spPr>
      </p:pic>
    </p:spTree>
    <p:extLst>
      <p:ext uri="{BB962C8B-B14F-4D97-AF65-F5344CB8AC3E}">
        <p14:creationId xmlns:p14="http://schemas.microsoft.com/office/powerpoint/2010/main" val="3560818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44341-FF71-30A9-1783-F07BD2D0C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E44E6-9A62-01C2-96D7-2EA5840E97F0}"/>
              </a:ext>
            </a:extLst>
          </p:cNvPr>
          <p:cNvSpPr>
            <a:spLocks noGrp="1"/>
          </p:cNvSpPr>
          <p:nvPr>
            <p:ph type="title"/>
          </p:nvPr>
        </p:nvSpPr>
        <p:spPr>
          <a:xfrm>
            <a:off x="859535" y="907302"/>
            <a:ext cx="10302108" cy="1386965"/>
          </a:xfrm>
        </p:spPr>
        <p:txBody>
          <a:bodyPr/>
          <a:lstStyle/>
          <a:p>
            <a:r>
              <a:rPr lang="en-US" b="1" dirty="0"/>
              <a:t>Connect repository</a:t>
            </a:r>
            <a:endParaRPr lang="en-US" dirty="0"/>
          </a:p>
        </p:txBody>
      </p:sp>
      <p:pic>
        <p:nvPicPr>
          <p:cNvPr id="4" name="Picture 3">
            <a:extLst>
              <a:ext uri="{FF2B5EF4-FFF2-40B4-BE49-F238E27FC236}">
                <a16:creationId xmlns:a16="http://schemas.microsoft.com/office/drawing/2014/main" id="{128CCCA1-9280-B935-0F03-61CE6FB36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367" y="2442533"/>
            <a:ext cx="10066443" cy="1972933"/>
          </a:xfrm>
          <a:prstGeom prst="rect">
            <a:avLst/>
          </a:prstGeom>
        </p:spPr>
      </p:pic>
    </p:spTree>
    <p:extLst>
      <p:ext uri="{BB962C8B-B14F-4D97-AF65-F5344CB8AC3E}">
        <p14:creationId xmlns:p14="http://schemas.microsoft.com/office/powerpoint/2010/main" val="3977629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31B51-FC7D-9E8F-D476-6A512F7E5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22D87-4B00-FC18-8F92-4702685118ED}"/>
              </a:ext>
            </a:extLst>
          </p:cNvPr>
          <p:cNvSpPr>
            <a:spLocks noGrp="1"/>
          </p:cNvSpPr>
          <p:nvPr>
            <p:ph type="title"/>
          </p:nvPr>
        </p:nvSpPr>
        <p:spPr>
          <a:xfrm>
            <a:off x="859535" y="907302"/>
            <a:ext cx="10302108" cy="1386965"/>
          </a:xfrm>
        </p:spPr>
        <p:txBody>
          <a:bodyPr/>
          <a:lstStyle/>
          <a:p>
            <a:r>
              <a:rPr lang="en-US" b="1" dirty="0"/>
              <a:t>Generate report</a:t>
            </a:r>
            <a:endParaRPr lang="en-US" dirty="0"/>
          </a:p>
        </p:txBody>
      </p:sp>
      <p:pic>
        <p:nvPicPr>
          <p:cNvPr id="4" name="Picture 3">
            <a:extLst>
              <a:ext uri="{FF2B5EF4-FFF2-40B4-BE49-F238E27FC236}">
                <a16:creationId xmlns:a16="http://schemas.microsoft.com/office/drawing/2014/main" id="{A6295307-985A-4DCD-E0E7-BAA63931C3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194" y="2903572"/>
            <a:ext cx="11089611" cy="1050855"/>
          </a:xfrm>
          <a:prstGeom prst="rect">
            <a:avLst/>
          </a:prstGeom>
        </p:spPr>
      </p:pic>
    </p:spTree>
    <p:extLst>
      <p:ext uri="{BB962C8B-B14F-4D97-AF65-F5344CB8AC3E}">
        <p14:creationId xmlns:p14="http://schemas.microsoft.com/office/powerpoint/2010/main" val="1883191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4E71-5AFC-C533-A734-295B5FD6D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6BE77-BE45-7C94-BC66-891754FF0C49}"/>
              </a:ext>
            </a:extLst>
          </p:cNvPr>
          <p:cNvSpPr>
            <a:spLocks noGrp="1"/>
          </p:cNvSpPr>
          <p:nvPr>
            <p:ph type="title"/>
          </p:nvPr>
        </p:nvSpPr>
        <p:spPr>
          <a:xfrm>
            <a:off x="859535" y="907302"/>
            <a:ext cx="10302108" cy="1386965"/>
          </a:xfrm>
        </p:spPr>
        <p:txBody>
          <a:bodyPr/>
          <a:lstStyle/>
          <a:p>
            <a:r>
              <a:rPr lang="en-US" b="1" dirty="0"/>
              <a:t>Configure rules</a:t>
            </a:r>
            <a:endParaRPr lang="en-US" dirty="0"/>
          </a:p>
        </p:txBody>
      </p:sp>
      <p:pic>
        <p:nvPicPr>
          <p:cNvPr id="4" name="Picture 3">
            <a:extLst>
              <a:ext uri="{FF2B5EF4-FFF2-40B4-BE49-F238E27FC236}">
                <a16:creationId xmlns:a16="http://schemas.microsoft.com/office/drawing/2014/main" id="{D5CEB534-67FD-BB45-FFC1-283B2DC17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647" y="2562743"/>
            <a:ext cx="10836705" cy="1732514"/>
          </a:xfrm>
          <a:prstGeom prst="rect">
            <a:avLst/>
          </a:prstGeom>
        </p:spPr>
      </p:pic>
    </p:spTree>
    <p:extLst>
      <p:ext uri="{BB962C8B-B14F-4D97-AF65-F5344CB8AC3E}">
        <p14:creationId xmlns:p14="http://schemas.microsoft.com/office/powerpoint/2010/main" val="2942408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4E2FD-89C2-6221-73A4-3C80816A8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699F9-00DE-1D2B-D1D9-6E4967ADB46B}"/>
              </a:ext>
            </a:extLst>
          </p:cNvPr>
          <p:cNvSpPr>
            <a:spLocks noGrp="1"/>
          </p:cNvSpPr>
          <p:nvPr>
            <p:ph type="title"/>
          </p:nvPr>
        </p:nvSpPr>
        <p:spPr>
          <a:xfrm>
            <a:off x="859535" y="907302"/>
            <a:ext cx="10302108" cy="1386965"/>
          </a:xfrm>
        </p:spPr>
        <p:txBody>
          <a:bodyPr/>
          <a:lstStyle/>
          <a:p>
            <a:r>
              <a:rPr lang="en-US" b="1" dirty="0"/>
              <a:t>Domain Model Diagram</a:t>
            </a:r>
            <a:endParaRPr lang="en-US" dirty="0"/>
          </a:p>
        </p:txBody>
      </p:sp>
      <p:pic>
        <p:nvPicPr>
          <p:cNvPr id="5" name="Picture 4">
            <a:extLst>
              <a:ext uri="{FF2B5EF4-FFF2-40B4-BE49-F238E27FC236}">
                <a16:creationId xmlns:a16="http://schemas.microsoft.com/office/drawing/2014/main" id="{A5023068-670F-BC21-65EC-71900E4550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015" y="1782501"/>
            <a:ext cx="11102266" cy="4456254"/>
          </a:xfrm>
          <a:prstGeom prst="rect">
            <a:avLst/>
          </a:prstGeom>
        </p:spPr>
      </p:pic>
    </p:spTree>
    <p:extLst>
      <p:ext uri="{BB962C8B-B14F-4D97-AF65-F5344CB8AC3E}">
        <p14:creationId xmlns:p14="http://schemas.microsoft.com/office/powerpoint/2010/main" val="1926393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5105-0C83-83FD-F061-AFC6738EEED3}"/>
              </a:ext>
            </a:extLst>
          </p:cNvPr>
          <p:cNvSpPr>
            <a:spLocks noGrp="1"/>
          </p:cNvSpPr>
          <p:nvPr>
            <p:ph type="ctrTitle"/>
          </p:nvPr>
        </p:nvSpPr>
        <p:spPr/>
        <p:txBody>
          <a:bodyPr/>
          <a:lstStyle/>
          <a:p>
            <a:r>
              <a:rPr lang="en-US" dirty="0"/>
              <a:t>Activity </a:t>
            </a:r>
            <a:br>
              <a:rPr lang="en-US" dirty="0"/>
            </a:br>
            <a:r>
              <a:rPr lang="en-US" dirty="0"/>
              <a:t>Diagram</a:t>
            </a:r>
          </a:p>
        </p:txBody>
      </p:sp>
    </p:spTree>
    <p:extLst>
      <p:ext uri="{BB962C8B-B14F-4D97-AF65-F5344CB8AC3E}">
        <p14:creationId xmlns:p14="http://schemas.microsoft.com/office/powerpoint/2010/main" val="1178161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B57B-8FE5-1E78-22B5-2542E0AAA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FC7B8-B93C-5A1D-4F49-98F04402E014}"/>
              </a:ext>
            </a:extLst>
          </p:cNvPr>
          <p:cNvSpPr>
            <a:spLocks noGrp="1"/>
          </p:cNvSpPr>
          <p:nvPr>
            <p:ph type="title"/>
          </p:nvPr>
        </p:nvSpPr>
        <p:spPr>
          <a:xfrm>
            <a:off x="859535" y="907302"/>
            <a:ext cx="10302108" cy="1386965"/>
          </a:xfrm>
        </p:spPr>
        <p:txBody>
          <a:bodyPr/>
          <a:lstStyle/>
          <a:p>
            <a:r>
              <a:rPr lang="en-US" b="1" dirty="0"/>
              <a:t>View </a:t>
            </a:r>
            <a:br>
              <a:rPr lang="en-US" b="1" dirty="0"/>
            </a:br>
            <a:r>
              <a:rPr lang="en-US" b="1" dirty="0"/>
              <a:t>dashboard</a:t>
            </a:r>
            <a:endParaRPr lang="en-US" dirty="0"/>
          </a:p>
        </p:txBody>
      </p:sp>
      <p:pic>
        <p:nvPicPr>
          <p:cNvPr id="3" name="Picture 2">
            <a:extLst>
              <a:ext uri="{FF2B5EF4-FFF2-40B4-BE49-F238E27FC236}">
                <a16:creationId xmlns:a16="http://schemas.microsoft.com/office/drawing/2014/main" id="{0BF4E316-4237-CAE2-FB5E-8C718C490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471" y="0"/>
            <a:ext cx="683452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517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728C-DA4E-A90B-007A-72F54B532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074AD-1F2B-31C2-D494-33AEA07D557F}"/>
              </a:ext>
            </a:extLst>
          </p:cNvPr>
          <p:cNvSpPr>
            <a:spLocks noGrp="1"/>
          </p:cNvSpPr>
          <p:nvPr>
            <p:ph type="title"/>
          </p:nvPr>
        </p:nvSpPr>
        <p:spPr>
          <a:xfrm>
            <a:off x="612648" y="907302"/>
            <a:ext cx="4361688" cy="1649694"/>
          </a:xfrm>
        </p:spPr>
        <p:txBody>
          <a:bodyPr anchor="t">
            <a:normAutofit/>
          </a:bodyPr>
          <a:lstStyle/>
          <a:p>
            <a:r>
              <a:rPr lang="en-US" b="1" dirty="0"/>
              <a:t>View Review </a:t>
            </a:r>
            <a:br>
              <a:rPr lang="en-US" b="1" dirty="0"/>
            </a:br>
            <a:r>
              <a:rPr lang="en-US" b="1" dirty="0"/>
              <a:t>comments</a:t>
            </a:r>
            <a:endParaRPr lang="en-US" dirty="0"/>
          </a:p>
        </p:txBody>
      </p:sp>
      <p:pic>
        <p:nvPicPr>
          <p:cNvPr id="5126" name="Picture 6">
            <a:extLst>
              <a:ext uri="{FF2B5EF4-FFF2-40B4-BE49-F238E27FC236}">
                <a16:creationId xmlns:a16="http://schemas.microsoft.com/office/drawing/2014/main" id="{C79EDB0A-211E-69EE-5484-A142E269E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4336" y="0"/>
            <a:ext cx="721766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903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FE145-71BC-3248-4954-3C1F45A10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6168-86C4-60B5-B94F-76999F94D53B}"/>
              </a:ext>
            </a:extLst>
          </p:cNvPr>
          <p:cNvSpPr>
            <a:spLocks noGrp="1"/>
          </p:cNvSpPr>
          <p:nvPr>
            <p:ph type="title"/>
          </p:nvPr>
        </p:nvSpPr>
        <p:spPr>
          <a:xfrm>
            <a:off x="859535" y="907302"/>
            <a:ext cx="10302108" cy="1386965"/>
          </a:xfrm>
        </p:spPr>
        <p:txBody>
          <a:bodyPr/>
          <a:lstStyle/>
          <a:p>
            <a:r>
              <a:rPr lang="en-US" b="1" dirty="0"/>
              <a:t>Submit pull </a:t>
            </a:r>
            <a:br>
              <a:rPr lang="en-US" b="1" dirty="0"/>
            </a:br>
            <a:r>
              <a:rPr lang="en-US" b="1" dirty="0"/>
              <a:t>request</a:t>
            </a:r>
            <a:endParaRPr lang="en-US" dirty="0"/>
          </a:p>
        </p:txBody>
      </p:sp>
      <p:pic>
        <p:nvPicPr>
          <p:cNvPr id="4098" name="Picture 2">
            <a:extLst>
              <a:ext uri="{FF2B5EF4-FFF2-40B4-BE49-F238E27FC236}">
                <a16:creationId xmlns:a16="http://schemas.microsoft.com/office/drawing/2014/main" id="{E0022A4D-536B-76B4-9971-C2D261D1F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288" y="0"/>
            <a:ext cx="708071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504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44341-FF71-30A9-1783-F07BD2D0C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E44E6-9A62-01C2-96D7-2EA5840E97F0}"/>
              </a:ext>
            </a:extLst>
          </p:cNvPr>
          <p:cNvSpPr>
            <a:spLocks noGrp="1"/>
          </p:cNvSpPr>
          <p:nvPr>
            <p:ph type="title"/>
          </p:nvPr>
        </p:nvSpPr>
        <p:spPr>
          <a:xfrm>
            <a:off x="859535" y="907302"/>
            <a:ext cx="10302108" cy="1386965"/>
          </a:xfrm>
        </p:spPr>
        <p:txBody>
          <a:bodyPr/>
          <a:lstStyle/>
          <a:p>
            <a:r>
              <a:rPr lang="en-US" b="1" dirty="0"/>
              <a:t>Connect</a:t>
            </a:r>
            <a:br>
              <a:rPr lang="en-US" b="1" dirty="0"/>
            </a:br>
            <a:r>
              <a:rPr lang="en-US" b="1" dirty="0"/>
              <a:t> repository</a:t>
            </a:r>
            <a:endParaRPr lang="en-US" dirty="0"/>
          </a:p>
        </p:txBody>
      </p:sp>
      <p:pic>
        <p:nvPicPr>
          <p:cNvPr id="2050" name="Picture 2">
            <a:extLst>
              <a:ext uri="{FF2B5EF4-FFF2-40B4-BE49-F238E27FC236}">
                <a16:creationId xmlns:a16="http://schemas.microsoft.com/office/drawing/2014/main" id="{731EC26F-9B04-ACB6-85BF-FA033E940B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965" y="0"/>
            <a:ext cx="72380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866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31B51-FC7D-9E8F-D476-6A512F7E5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22D87-4B00-FC18-8F92-4702685118ED}"/>
              </a:ext>
            </a:extLst>
          </p:cNvPr>
          <p:cNvSpPr>
            <a:spLocks noGrp="1"/>
          </p:cNvSpPr>
          <p:nvPr>
            <p:ph type="title"/>
          </p:nvPr>
        </p:nvSpPr>
        <p:spPr>
          <a:xfrm>
            <a:off x="859535" y="907302"/>
            <a:ext cx="10302108" cy="1386965"/>
          </a:xfrm>
        </p:spPr>
        <p:txBody>
          <a:bodyPr/>
          <a:lstStyle/>
          <a:p>
            <a:r>
              <a:rPr lang="en-US" b="1" dirty="0"/>
              <a:t>Generate </a:t>
            </a:r>
            <a:br>
              <a:rPr lang="en-US" b="1" dirty="0"/>
            </a:br>
            <a:r>
              <a:rPr lang="en-US" b="1" dirty="0"/>
              <a:t>report</a:t>
            </a:r>
            <a:endParaRPr lang="en-US" dirty="0"/>
          </a:p>
        </p:txBody>
      </p:sp>
      <p:pic>
        <p:nvPicPr>
          <p:cNvPr id="3074" name="Picture 2">
            <a:extLst>
              <a:ext uri="{FF2B5EF4-FFF2-40B4-BE49-F238E27FC236}">
                <a16:creationId xmlns:a16="http://schemas.microsoft.com/office/drawing/2014/main" id="{6FFF1E66-6CC7-C195-CA89-FE5E123D7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6335" y="0"/>
            <a:ext cx="795566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554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64E71-5AFC-C533-A734-295B5FD6D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6BE77-BE45-7C94-BC66-891754FF0C49}"/>
              </a:ext>
            </a:extLst>
          </p:cNvPr>
          <p:cNvSpPr>
            <a:spLocks noGrp="1"/>
          </p:cNvSpPr>
          <p:nvPr>
            <p:ph type="title"/>
          </p:nvPr>
        </p:nvSpPr>
        <p:spPr>
          <a:xfrm>
            <a:off x="859535" y="907302"/>
            <a:ext cx="10302108" cy="1386965"/>
          </a:xfrm>
        </p:spPr>
        <p:txBody>
          <a:bodyPr/>
          <a:lstStyle/>
          <a:p>
            <a:r>
              <a:rPr lang="en-US" b="1" dirty="0"/>
              <a:t>Configure rules</a:t>
            </a:r>
            <a:endParaRPr lang="en-US" dirty="0"/>
          </a:p>
        </p:txBody>
      </p:sp>
      <p:pic>
        <p:nvPicPr>
          <p:cNvPr id="1026" name="Picture 2">
            <a:extLst>
              <a:ext uri="{FF2B5EF4-FFF2-40B4-BE49-F238E27FC236}">
                <a16:creationId xmlns:a16="http://schemas.microsoft.com/office/drawing/2014/main" id="{EB6544FA-666F-41BC-299F-94C0CD35B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757" y="0"/>
            <a:ext cx="567524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056137"/>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{F016B36E-75B8-42D2-B5A1-92AF2D668BDC}f4c2fa09-5552-4190-875c-1979579583e2-TFc553d604-a3b6-4c52-b2ed-3a769335c0fd_win32</Template>
  <TotalTime>31</TotalTime>
  <Words>247</Words>
  <Application>Microsoft Office PowerPoint</Application>
  <PresentationFormat>Widescreen</PresentationFormat>
  <Paragraphs>31</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Lora</vt:lpstr>
      <vt:lpstr>Playfair Display Black</vt:lpstr>
      <vt:lpstr>Poppins Light</vt:lpstr>
      <vt:lpstr>Gradient Circle</vt:lpstr>
      <vt:lpstr>Code Review Automation Assistant</vt:lpstr>
      <vt:lpstr>Project Description</vt:lpstr>
      <vt:lpstr>USE-CASE DIagram</vt:lpstr>
      <vt:lpstr>Class Diagram</vt:lpstr>
      <vt:lpstr>Sequence  Diagram</vt:lpstr>
      <vt:lpstr>View dashboard</vt:lpstr>
      <vt:lpstr>View Review comments</vt:lpstr>
      <vt:lpstr>Submit pull request</vt:lpstr>
      <vt:lpstr>Connect repository</vt:lpstr>
      <vt:lpstr>Generate report</vt:lpstr>
      <vt:lpstr>Configure rules</vt:lpstr>
      <vt:lpstr>Robustness Diagram</vt:lpstr>
      <vt:lpstr>View dashboard</vt:lpstr>
      <vt:lpstr>View Review comments</vt:lpstr>
      <vt:lpstr>Submit pull request</vt:lpstr>
      <vt:lpstr>Connect repository</vt:lpstr>
      <vt:lpstr>Generate report</vt:lpstr>
      <vt:lpstr>Configure rules</vt:lpstr>
      <vt:lpstr>Domain Model Diagram</vt:lpstr>
      <vt:lpstr>Activity  Diagram</vt:lpstr>
      <vt:lpstr>View  dashboard</vt:lpstr>
      <vt:lpstr>View Review  comments</vt:lpstr>
      <vt:lpstr>Submit pull  request</vt:lpstr>
      <vt:lpstr>Connect  repository</vt:lpstr>
      <vt:lpstr>Generate  report</vt:lpstr>
      <vt:lpstr>Configure rules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Arethiya</dc:creator>
  <cp:lastModifiedBy>Ruthvik Goggi</cp:lastModifiedBy>
  <cp:revision>17</cp:revision>
  <dcterms:created xsi:type="dcterms:W3CDTF">2026-02-12T22:28:53Z</dcterms:created>
  <dcterms:modified xsi:type="dcterms:W3CDTF">2026-04-19T03:54:29Z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